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Poppins" charset="0"/>
      <p:regular r:id="rId19"/>
      <p:bold r:id="rId20"/>
      <p:italic r:id="rId21"/>
      <p:boldItalic r:id="rId22"/>
    </p:embeddedFon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Lato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FDB0DF0E-8188-418A-B197-E7CC7CF0CD5F}">
  <a:tblStyle styleId="{FDB0DF0E-8188-418A-B197-E7CC7CF0CD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404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14028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4472731"/>
            <a:ext cx="883920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90486" y="803969"/>
            <a:ext cx="8211026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PREDICTIVE MODELING OF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EMPLOYEE ATTRITION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2430660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Machine Learning Approach to Strategic Workforce Retention: Transforming HR Management from Reactive Reporting to Proactive Intelligence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76399" y="4524214"/>
            <a:ext cx="8839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Presented by: Khushboo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Hattar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(22CSE16) |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Kanchan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Kumari</a:t>
            </a:r>
            <a:r>
              <a:rPr lang="en-US" sz="1500" b="1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(22CSE20) | Muhammad Siraj (22CSE18), Syed Yaqoob Naqvi (22CSE47)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676400" y="5358556"/>
            <a:ext cx="883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 Year Project | Data Science &amp; Analytics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76400" y="5853856"/>
            <a:ext cx="8839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8080"/>
                </a:solidFill>
                <a:latin typeface="Arial"/>
                <a:ea typeface="Arial"/>
                <a:cs typeface="Arial"/>
                <a:sym typeface="Arial"/>
              </a:rPr>
              <a:t>CLASS IMBALANCE | ENSEMBLE LEARNING | FEATURE ENGINEERING | ROC-AUC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000125" y="226218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Employee Attrition: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voluntary reduction of a workforce over time, posing significant risks.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31099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 Capital: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Recognized as the most critical competitive asset in the modern global economy.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9576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Foundation: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Utilizing the comprehensive IBM HR Analytics Dataset.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80536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Identifying complex behavior patterns to forecast turnover before it happens.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002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48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957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8434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PROJECT INTRODUCTION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3125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43125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43125"/>
            <a:ext cx="3492549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66775" y="30861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Knowledge Gap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6099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Traditional HR KPIs are lagging indicators—they only tell us who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already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left, providing no path for intervention.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30861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Economic Impact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5074" y="36099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 costs of hiring/onboarding combined with indirect costs like productivity loss and morale decline impact the bottom line.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0861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Technical Challenge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3374" y="36099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Modeling non-linear relationships across 35+ diverse features (Income, Distance, Overtime) requires advanced ML architectures.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765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765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76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925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47925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47925"/>
            <a:ext cx="3492549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66775" y="33909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Business Intelligence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3873679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Substantially reduce the "Cost-per-Hire" by focusing on high-value employee retention strategies.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4645074" y="33909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Data-Driven HR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45074" y="384285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Moving beyond intuition-based decisions to actionable, machine-learned insights for management.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8423374" y="33909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Strategic Growth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23374" y="3770939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Protecting organizational knowledge and ensuring long-term talent continuity and stability.</a:t>
            </a:r>
            <a:endParaRPr dirty="0"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81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81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813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PROJECT MOTIVATION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22526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IBM HR Analytics Employee Attrition Dataset</a:t>
            </a:r>
            <a:endParaRPr/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571500" y="2938462"/>
          <a:ext cx="11048975" cy="2762250"/>
        </p:xfrm>
        <a:graphic>
          <a:graphicData uri="http://schemas.openxmlformats.org/drawingml/2006/table">
            <a:tbl>
              <a:tblPr firstRow="1" bandRow="1">
                <a:noFill/>
                <a:tableStyleId>{FDB0DF0E-8188-418A-B197-E7CC7CF0CD5F}</a:tableStyleId>
              </a:tblPr>
              <a:tblGrid>
                <a:gridCol w="21639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8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6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Property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Significance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1,470 Observations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Sufficient sample for statistical significance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Features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 Variables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Multidimensional employee profiles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 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Attrition (Yes / No)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 classification objective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Categories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Numerical, Categorical, Ordinal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Requires mixed preprocessing techniques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53" name="Google Shape;153;p17"/>
          <p:cNvSpPr/>
          <p:nvPr/>
        </p:nvSpPr>
        <p:spPr>
          <a:xfrm>
            <a:off x="571500" y="4057650"/>
            <a:ext cx="216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735460" y="4057650"/>
            <a:ext cx="3818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554092" y="4057650"/>
            <a:ext cx="5066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4600575"/>
            <a:ext cx="216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735460" y="4600575"/>
            <a:ext cx="3818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554092" y="4600575"/>
            <a:ext cx="5066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5143500"/>
            <a:ext cx="216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735460" y="5143500"/>
            <a:ext cx="3818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554092" y="5143500"/>
            <a:ext cx="5066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5686425"/>
            <a:ext cx="2163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735460" y="5686425"/>
            <a:ext cx="3818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554092" y="5686425"/>
            <a:ext cx="5066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000125" y="24479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Collection: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Ingestion of IBM CSV raw data.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29908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Cleaning: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Outlier detection and noise removal.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000125" y="353377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 Engineering: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Transforming variables for model intake.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000125" y="43815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 Training: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Applying Ensemble methods (RF, XGB).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000125" y="49244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Insights: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Strategic reporting for HR stakeholders.</a:t>
            </a:r>
            <a:endParaRPr/>
          </a:p>
        </p:txBody>
      </p:sp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860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289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5718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19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9625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PROPOSED ML PIPELINE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1381125" y="2686050"/>
            <a:ext cx="10239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Handling Class Imbalance: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Since the majority of employees stay, we implemented resampling strategies (SMOTE) to prevent model bias towards the majority class.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381125" y="3533775"/>
            <a:ext cx="10239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 Pruning: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Removed irrelevant constants such as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EmployeeNumber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Over18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StandardHours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which add zero predictive variance.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381125" y="4381500"/>
            <a:ext cx="10239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Normalization: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Handled missing values and addressed outliers in compensation data to stabilize gradient descent during training.</a:t>
            </a:r>
            <a:endParaRPr/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7241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571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4196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024062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6810375" y="226218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Label Encoding: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Applied to ordinal variables like Education and Job Satisfaction level.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810375" y="31099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One-Hot Encoding: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for nominal variables like Department and Job Role to avoid false ordinal ranking.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810375" y="39576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Utilized correlation analysis to reduce noise and multicollinearity.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810375" y="480536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Significantly improved model generalization and decreased training time.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3492549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95525"/>
            <a:ext cx="3492549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95525"/>
            <a:ext cx="3492549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866775" y="32385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66775" y="37623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Used for its robust handling of complex feature interactions and resistance to overfitting through bagging and feature randomness.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45074" y="32385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45074" y="37623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Extreme Gradient Boosting provided the highest accuracy by iteratively correcting residuals and using specialized regularization.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423374" y="32385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Ensemble Logic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23374" y="37623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prioritized non-linear models as employee behavior is rarely a linear function of a single variable like "Salary".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289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289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28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MODELING STRATEGY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925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47925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47925"/>
            <a:ext cx="3492549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866775" y="33909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Python Core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66775" y="39147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Pandas for manipulation, NumPy for numerical computation, and Anaconda as the environment.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645074" y="33909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Scikit-Learn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645074" y="39147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primary library for the ML pipeline, cross-validation, and performance evaluation metrics.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423374" y="33909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Visualization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423374" y="39147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Seaborn and Matplotlib for generating correlation heatmaps and feature importance plots.</a:t>
            </a:r>
            <a:endParaRPr/>
          </a:p>
        </p:txBody>
      </p:sp>
      <p:pic>
        <p:nvPicPr>
          <p:cNvPr id="245" name="Google Shape;24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813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813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813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TECH STACK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6817"/>
            <a:ext cx="11049000" cy="123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571500" y="544100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Focus: Minimizing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False Negatives</a:t>
            </a:r>
            <a:r>
              <a:rPr lang="en-US" sz="1500" b="0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(Employees predicted to stay who actually leave).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762000" y="420781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 Formulation:</a:t>
            </a:r>
            <a:endParaRPr/>
          </a:p>
        </p:txBody>
      </p:sp>
      <p:pic>
        <p:nvPicPr>
          <p:cNvPr id="259" name="Google Shape;25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07867"/>
            <a:ext cx="10668000" cy="26163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MODEL PERFORMANCE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71500" y="23479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 Importance Ranking (Gini Importance):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KEY PREDICTORS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000125" y="260985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Risk: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Low JobLevel, Monthly Income, and Tenure are primary indicators.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000125" y="345757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Travel Impact: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Frequent Business Travel significantly increases attrition probability.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00125" y="43053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R&amp;D Strength: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Research &amp; Development department shows the highest retention rates.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810375" y="260985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Demographics: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Single and Male employees show a higher statistical likelihood of quitting.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810375" y="345757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Burnout: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Overtime is the strongest single correlation with immediate resignations.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810375" y="43053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Stock Options: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Strategic stock option levels inversely correlate with attrition.</a:t>
            </a:r>
            <a:endParaRPr/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7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956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434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6479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495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3434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HR BUSINESS INSIGHTS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 txBox="1"/>
          <p:nvPr/>
        </p:nvSpPr>
        <p:spPr>
          <a:xfrm>
            <a:off x="571500" y="571500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CORRELATION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ANALYSIS</a:t>
            </a:r>
            <a:endParaRPr/>
          </a:p>
        </p:txBody>
      </p:sp>
      <p:pic>
        <p:nvPicPr>
          <p:cNvPr id="296" name="Google Shape;296;p26"/>
          <p:cNvPicPr preferRelativeResize="0"/>
          <p:nvPr/>
        </p:nvPicPr>
        <p:blipFill>
          <a:blip r:embed="rId4"/>
          <a:srcRect/>
          <a:stretch/>
        </p:blipFill>
        <p:spPr>
          <a:xfrm>
            <a:off x="6096000" y="2354943"/>
            <a:ext cx="6096000" cy="214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571500" y="5176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Visualization helps identify multicollinearity for feature selection.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1000125" y="2576512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Monthly Income ↔ Job Level: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Strong positive correlation as expected.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000125" y="3424237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 ↔ Working Years: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linear dependency.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1000125" y="3967162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Marital Status ↔ Stock: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Significant negative correlation for single status.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571500" y="4234904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enables proactive HR interventions, allowing companies to engage at-risk talent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resignation is filed.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571500" y="2568029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20%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571500" y="3482429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Churn Reduction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4381500" y="2568029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Early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4381500" y="3482429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Identification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8191500" y="2568029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8191500" y="3482429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Data-Driven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IMPACT &amp; SCALABILITY</a:t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1300"/>
            <a:ext cx="538162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781300"/>
            <a:ext cx="53816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295275" y="5715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808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2286000" y="17907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ML framework successfully transitions HR from reactive to proactive, proving that employee behavior can be mapped and predicted with over 88% accuracy.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571500" y="53816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866775" y="307657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866775" y="3600450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Integration of Deep Learning (ANNs) for higher accuracy and real-time dashboard deployment via web interfaces.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6534150" y="307657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Live HRMS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6534150" y="3600450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Connecting the pipeline directly to real-world HRMS systems for automated attrition alerts and sentiment analysis.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Custom</PresentationFormat>
  <Paragraphs>102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Poppins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Zulfiqar Ali Bhutto</dc:creator>
  <cp:lastModifiedBy>Muhammad Siraj Bhutto</cp:lastModifiedBy>
  <cp:revision>4</cp:revision>
  <dcterms:modified xsi:type="dcterms:W3CDTF">2026-01-21T13:33:24Z</dcterms:modified>
</cp:coreProperties>
</file>